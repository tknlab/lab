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 A · Title. Change the event, date, title and presenter. Keep at most one gold italic word in the title.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Outline. Three to five items. Use the same section titles as your section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 B · Section. Panel background marks a break. Use for talks over 20 minutes. Light theme: for printed handouts, PDFs and bright rooms.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 C · Claim + figure. The default content slide. Title states the finding. Up to three short points. n and conditions at the bottom left.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 D · Full figure. For a graph or structure that needs the whole width. One-line title.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Comparison. Wild type in ink, the condition you care about in gold. Same axes on both panels.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number. One figure, in gold Geist Mono, with a sentence that explains it. Use sparingly.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 E · Full-bleed photo. For methods, rigs and people. Replace the image with a lab photo; keep the white fade behind the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Steps. For a workflow or protocol. Three or four steps; reveal one at a time with Appear if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Summary. Three take-home points, written as findings.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 F · Acknowledgements. Always the last slide. Keep funder logos on the white strip at equal visual height.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card for the design system. Delete this slide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webp"/><Relationship Id="rId3" Type="http://schemas.openxmlformats.org/officeDocument/2006/relationships/image" Target="../media/image-11-3.webp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762000"/>
            <a:ext cx="1675209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666937" y="957263"/>
            <a:ext cx="297732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585F7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KSBS · IIT DELHI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914400" y="5457825"/>
            <a:ext cx="1810512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90" kern="0" dirty="0">
                <a:solidFill>
                  <a:srgbClr val="925E1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LAB MEETING · 14 OCT 2026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914400" y="6119813"/>
            <a:ext cx="14716125" cy="2619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877"/>
              </a:lnSpc>
              <a:buNone/>
            </a:pPr>
            <a:r>
              <a:rPr lang="en-US" sz="9600" spc="-384" kern="0" dirty="0">
                <a:solidFill>
                  <a:srgbClr val="141A2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How agonists </a:t>
            </a:r>
            <a:pPr algn="l" indent="0" marL="0">
              <a:lnSpc>
                <a:spcPct val="76877"/>
              </a:lnSpc>
              <a:buNone/>
            </a:pPr>
            <a:r>
              <a:rPr lang="en-US" sz="9600" i="1" spc="-384" kern="0" dirty="0">
                <a:solidFill>
                  <a:srgbClr val="925E1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open </a:t>
            </a:r>
            <a:pPr algn="l" indent="0" marL="0">
              <a:lnSpc>
                <a:spcPct val="76877"/>
              </a:lnSpc>
              <a:buNone/>
            </a:pPr>
            <a:r>
              <a:rPr lang="en-US" sz="9600" spc="-384" kern="0" dirty="0">
                <a:solidFill>
                  <a:srgbClr val="141A2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pore</a:t>
            </a:r>
            <a:endParaRPr lang="en-US" sz="9600" dirty="0"/>
          </a:p>
        </p:txBody>
      </p:sp>
      <p:sp>
        <p:nvSpPr>
          <p:cNvPr id="6" name="Text 3"/>
          <p:cNvSpPr/>
          <p:nvPr/>
        </p:nvSpPr>
        <p:spPr>
          <a:xfrm>
            <a:off x="914400" y="9082088"/>
            <a:ext cx="1810512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48516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Presenter name · PhD scholar</a:t>
            </a:r>
            <a:endParaRPr lang="en-US" sz="2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181051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925E1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OUTLINE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23975"/>
            <a:ext cx="18105120" cy="67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479"/>
              </a:lnSpc>
              <a:buNone/>
            </a:pPr>
            <a:r>
              <a:rPr lang="en-US" sz="4800" spc="-168" kern="0" dirty="0">
                <a:solidFill>
                  <a:srgbClr val="141A2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Today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2649810"/>
            <a:ext cx="16459200" cy="9525"/>
          </a:xfrm>
          <a:prstGeom prst="rect">
            <a:avLst/>
          </a:prstGeom>
          <a:solidFill>
            <a:srgbClr val="141A26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3773760"/>
            <a:ext cx="16459200" cy="9525"/>
          </a:xfrm>
          <a:prstGeom prst="rect">
            <a:avLst/>
          </a:prstGeom>
          <a:solidFill>
            <a:srgbClr val="141A26">
              <a:alpha val="12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059385"/>
            <a:ext cx="1466850" cy="433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925E1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247900" y="2945085"/>
            <a:ext cx="16638270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spc="-66" kern="0" dirty="0">
                <a:solidFill>
                  <a:srgbClr val="141A2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Background and question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914400" y="4897710"/>
            <a:ext cx="16459200" cy="9525"/>
          </a:xfrm>
          <a:prstGeom prst="rect">
            <a:avLst/>
          </a:prstGeom>
          <a:solidFill>
            <a:srgbClr val="141A26">
              <a:alpha val="12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4183335"/>
            <a:ext cx="1466850" cy="433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925E1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247900" y="4069035"/>
            <a:ext cx="16638270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spc="-66" kern="0" dirty="0">
                <a:solidFill>
                  <a:srgbClr val="141A2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Gating kinetics</a:t>
            </a:r>
            <a:endParaRPr lang="en-US" sz="3300" dirty="0"/>
          </a:p>
        </p:txBody>
      </p:sp>
      <p:sp>
        <p:nvSpPr>
          <p:cNvPr id="11" name="Shape 9"/>
          <p:cNvSpPr/>
          <p:nvPr/>
        </p:nvSpPr>
        <p:spPr>
          <a:xfrm>
            <a:off x="914400" y="6021660"/>
            <a:ext cx="16459200" cy="9525"/>
          </a:xfrm>
          <a:prstGeom prst="rect">
            <a:avLst/>
          </a:prstGeom>
          <a:solidFill>
            <a:srgbClr val="141A26">
              <a:alpha val="12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5307285"/>
            <a:ext cx="1466850" cy="433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925E1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247900" y="5192985"/>
            <a:ext cx="16638270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spc="-66" kern="0" dirty="0">
                <a:solidFill>
                  <a:srgbClr val="141A2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Structure and model</a:t>
            </a:r>
            <a:endParaRPr lang="en-US" sz="3300" dirty="0"/>
          </a:p>
        </p:txBody>
      </p:sp>
      <p:sp>
        <p:nvSpPr>
          <p:cNvPr id="14" name="Shape 12"/>
          <p:cNvSpPr/>
          <p:nvPr/>
        </p:nvSpPr>
        <p:spPr>
          <a:xfrm>
            <a:off x="914400" y="7145610"/>
            <a:ext cx="16459200" cy="9525"/>
          </a:xfrm>
          <a:prstGeom prst="rect">
            <a:avLst/>
          </a:prstGeom>
          <a:solidFill>
            <a:srgbClr val="141A26">
              <a:alpha val="1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6431235"/>
            <a:ext cx="1466850" cy="433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925E1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04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247900" y="6316935"/>
            <a:ext cx="16638270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spc="-66" kern="0" dirty="0">
                <a:solidFill>
                  <a:srgbClr val="141A2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Next steps</a:t>
            </a:r>
            <a:endParaRPr lang="en-US" sz="3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767388"/>
            <a:ext cx="18105120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923"/>
              </a:lnSpc>
              <a:buNone/>
            </a:pPr>
            <a:r>
              <a:rPr lang="en-US" sz="13500" spc="-405" kern="0" dirty="0">
                <a:solidFill>
                  <a:srgbClr val="925E1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02</a:t>
            </a:r>
            <a:endParaRPr lang="en-US" sz="13500" dirty="0"/>
          </a:p>
        </p:txBody>
      </p:sp>
      <p:sp>
        <p:nvSpPr>
          <p:cNvPr id="3" name="Text 1"/>
          <p:cNvSpPr/>
          <p:nvPr/>
        </p:nvSpPr>
        <p:spPr>
          <a:xfrm>
            <a:off x="914400" y="7786688"/>
            <a:ext cx="18105120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037"/>
              </a:lnSpc>
              <a:buNone/>
            </a:pPr>
            <a:r>
              <a:rPr lang="en-US" sz="7800" spc="-312" kern="0" dirty="0">
                <a:solidFill>
                  <a:srgbClr val="141A2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Gating kinetics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9082088"/>
            <a:ext cx="1810512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48516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What changes when the mutant opens</a:t>
            </a:r>
            <a:endParaRPr lang="en-US" sz="2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15716250" cy="67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479"/>
              </a:lnSpc>
              <a:buNone/>
            </a:pPr>
            <a:r>
              <a:rPr lang="en-US" sz="4800" spc="-168" kern="0" dirty="0">
                <a:solidFill>
                  <a:srgbClr val="141A2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mutation slows opening about threefold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914400" y="1935435"/>
            <a:ext cx="19050" cy="462855"/>
          </a:xfrm>
          <a:prstGeom prst="rect">
            <a:avLst/>
          </a:prstGeom>
          <a:solidFill>
            <a:srgbClr val="925E10"/>
          </a:solidFill>
          <a:ln/>
        </p:spPr>
      </p:sp>
      <p:sp>
        <p:nvSpPr>
          <p:cNvPr id="4" name="Text 2"/>
          <p:cNvSpPr/>
          <p:nvPr/>
        </p:nvSpPr>
        <p:spPr>
          <a:xfrm>
            <a:off x="1200150" y="1935435"/>
            <a:ext cx="6000750" cy="500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516"/>
              </a:lnSpc>
              <a:buNone/>
            </a:pPr>
            <a:r>
              <a:rPr lang="en-US" sz="2700" dirty="0">
                <a:solidFill>
                  <a:srgbClr val="141A2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Rise time 1.2 → 3.6 ms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2741191"/>
            <a:ext cx="19050" cy="462855"/>
          </a:xfrm>
          <a:prstGeom prst="rect">
            <a:avLst/>
          </a:prstGeom>
          <a:solidFill>
            <a:srgbClr val="141A26">
              <a:alpha val="1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200150" y="2741191"/>
            <a:ext cx="6000750" cy="500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516"/>
              </a:lnSpc>
              <a:buNone/>
            </a:pPr>
            <a:r>
              <a:rPr lang="en-US" sz="2700" dirty="0">
                <a:solidFill>
                  <a:srgbClr val="48516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Peak current unchanged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3546946"/>
            <a:ext cx="19050" cy="462855"/>
          </a:xfrm>
          <a:prstGeom prst="rect">
            <a:avLst/>
          </a:prstGeom>
          <a:solidFill>
            <a:srgbClr val="141A26">
              <a:alpha val="1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200150" y="3546946"/>
            <a:ext cx="6000750" cy="500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516"/>
              </a:lnSpc>
              <a:buNone/>
            </a:pPr>
            <a:r>
              <a:rPr lang="en-US" sz="2700" dirty="0">
                <a:solidFill>
                  <a:srgbClr val="48516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Closing rate unchanged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7315200" y="1859235"/>
            <a:ext cx="10058400" cy="7665765"/>
          </a:xfrm>
          <a:prstGeom prst="roundRect">
            <a:avLst>
              <a:gd name="adj" fmla="val 2485"/>
            </a:avLst>
          </a:prstGeom>
          <a:solidFill>
            <a:srgbClr val="F7F4EE"/>
          </a:solidFill>
          <a:ln w="19050">
            <a:solidFill>
              <a:srgbClr val="925E10">
                <a:alpha val="35000"/>
              </a:srgbClr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7183374" y="1878285"/>
            <a:ext cx="10322052" cy="766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spc="273" kern="0" dirty="0">
                <a:solidFill>
                  <a:srgbClr val="585F7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FIGURE · SVG, EMF OR 300 DPI PNG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14400" y="9229725"/>
            <a:ext cx="62865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85F7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n = 12 patches · −100 mV · Recorded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18105120" cy="67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479"/>
              </a:lnSpc>
              <a:buNone/>
            </a:pPr>
            <a:r>
              <a:rPr lang="en-US" sz="4800" spc="-168" kern="0" dirty="0">
                <a:solidFill>
                  <a:srgbClr val="141A2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Open probability rises with [ACh]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914400" y="1783035"/>
            <a:ext cx="16459200" cy="7065690"/>
          </a:xfrm>
          <a:prstGeom prst="roundRect">
            <a:avLst>
              <a:gd name="adj" fmla="val 2696"/>
            </a:avLst>
          </a:prstGeom>
          <a:solidFill>
            <a:srgbClr val="F7F4EE"/>
          </a:solidFill>
          <a:ln w="19050">
            <a:solidFill>
              <a:srgbClr val="925E10">
                <a:alpha val="35000"/>
              </a:srgbClr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686562" y="1802085"/>
            <a:ext cx="16914876" cy="7065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spc="273" kern="0" dirty="0">
                <a:solidFill>
                  <a:srgbClr val="585F7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FULL-WIDTH FIGURE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14400" y="9229725"/>
            <a:ext cx="181051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85F7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Recorded · cell-attached · n = 8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18105120" cy="67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479"/>
              </a:lnSpc>
              <a:buNone/>
            </a:pPr>
            <a:r>
              <a:rPr lang="en-US" sz="4800" spc="-168" kern="0" dirty="0">
                <a:solidFill>
                  <a:srgbClr val="141A2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mutant stays closed for longer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1859235"/>
            <a:ext cx="880110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90" kern="0" dirty="0">
                <a:solidFill>
                  <a:srgbClr val="48516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WILD TYPE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914400" y="2406923"/>
            <a:ext cx="8001000" cy="6518002"/>
          </a:xfrm>
          <a:prstGeom prst="roundRect">
            <a:avLst>
              <a:gd name="adj" fmla="val 2923"/>
            </a:avLst>
          </a:prstGeom>
          <a:solidFill>
            <a:srgbClr val="F7F4EE"/>
          </a:solidFill>
          <a:ln w="19050">
            <a:solidFill>
              <a:srgbClr val="141A26">
                <a:alpha val="15000"/>
              </a:srgbClr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813435" y="2425973"/>
            <a:ext cx="8202930" cy="6518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spc="252" kern="0" dirty="0">
                <a:solidFill>
                  <a:srgbClr val="585F7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FIGURE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9153525"/>
            <a:ext cx="88011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8516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Mean closed time 2.1 ms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372600" y="1859235"/>
            <a:ext cx="880110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90" kern="0" dirty="0">
                <a:solidFill>
                  <a:srgbClr val="925E1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MUTANT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372600" y="2406923"/>
            <a:ext cx="8001000" cy="6518002"/>
          </a:xfrm>
          <a:prstGeom prst="roundRect">
            <a:avLst>
              <a:gd name="adj" fmla="val 2923"/>
            </a:avLst>
          </a:prstGeom>
          <a:solidFill>
            <a:srgbClr val="F7F4EE"/>
          </a:solidFill>
          <a:ln w="19050">
            <a:solidFill>
              <a:srgbClr val="925E10">
                <a:alpha val="45000"/>
              </a:srgbClr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9271635" y="2425973"/>
            <a:ext cx="8202930" cy="6518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spc="252" kern="0" dirty="0">
                <a:solidFill>
                  <a:srgbClr val="585F7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FIGURE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372600" y="9153525"/>
            <a:ext cx="88011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41A2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Mean closed time 6.4 ms</a:t>
            </a:r>
            <a:endParaRPr lang="en-US" sz="2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505075"/>
            <a:ext cx="181051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925E1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KEY RESULT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3181350"/>
            <a:ext cx="18105120" cy="2438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9231"/>
              </a:lnSpc>
              <a:buNone/>
            </a:pPr>
            <a:r>
              <a:rPr lang="en-US" sz="21000" spc="-1050" kern="0" dirty="0">
                <a:solidFill>
                  <a:srgbClr val="925E1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3×</a:t>
            </a:r>
            <a:endParaRPr lang="en-US" sz="21000" dirty="0"/>
          </a:p>
        </p:txBody>
      </p:sp>
      <p:sp>
        <p:nvSpPr>
          <p:cNvPr id="4" name="Text 2"/>
          <p:cNvSpPr/>
          <p:nvPr/>
        </p:nvSpPr>
        <p:spPr>
          <a:xfrm>
            <a:off x="914400" y="5962650"/>
            <a:ext cx="1177290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74"/>
              </a:lnSpc>
              <a:buNone/>
            </a:pPr>
            <a:r>
              <a:rPr lang="en-US" sz="3600" spc="-72" kern="0" dirty="0">
                <a:solidFill>
                  <a:srgbClr val="141A2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slower opening in the mutant, with no change in peak current.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7486650"/>
            <a:ext cx="181051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85F7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n = 12 patches · p &lt; 0.01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21084" b="21084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46000">
                <a:srgbClr val="FFFFFF">
                  <a:alpha val="92000"/>
                </a:srgbClr>
              </a:gs>
              <a:gs pos="82000">
                <a:srgbClr val="FFFFFF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914400" y="5956846"/>
            <a:ext cx="859155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90" kern="0" dirty="0">
                <a:solidFill>
                  <a:srgbClr val="925E1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METHOD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914400" y="6542633"/>
            <a:ext cx="8044815" cy="174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393"/>
              </a:lnSpc>
              <a:buNone/>
            </a:pPr>
            <a:r>
              <a:rPr lang="en-US" sz="6600" spc="-231" kern="0" dirty="0">
                <a:solidFill>
                  <a:srgbClr val="141A2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Single-channel patch clamp</a:t>
            </a:r>
            <a:endParaRPr lang="en-US" sz="6600" dirty="0"/>
          </a:p>
        </p:txBody>
      </p:sp>
      <p:sp>
        <p:nvSpPr>
          <p:cNvPr id="6" name="Text 3"/>
          <p:cNvSpPr/>
          <p:nvPr/>
        </p:nvSpPr>
        <p:spPr>
          <a:xfrm>
            <a:off x="914400" y="8519220"/>
            <a:ext cx="8044815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952"/>
              </a:lnSpc>
              <a:buNone/>
            </a:pPr>
            <a:r>
              <a:rPr lang="en-US" sz="2400" dirty="0">
                <a:solidFill>
                  <a:srgbClr val="141A2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Currents from one receptor at a time, in cell-attached patches.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18105120" cy="67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479"/>
              </a:lnSpc>
              <a:buNone/>
            </a:pPr>
            <a:r>
              <a:rPr lang="en-US" sz="4800" spc="-168" kern="0" dirty="0">
                <a:solidFill>
                  <a:srgbClr val="141A2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From mutation to mechanism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914400" y="2087835"/>
            <a:ext cx="5283175" cy="7437165"/>
          </a:xfrm>
          <a:prstGeom prst="roundRect">
            <a:avLst>
              <a:gd name="adj" fmla="val 3606"/>
            </a:avLst>
          </a:prstGeom>
          <a:solidFill>
            <a:srgbClr val="F7F4EE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2545035"/>
            <a:ext cx="4805653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925E1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71600" y="3268935"/>
            <a:ext cx="4805653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spc="-66" kern="0" dirty="0">
                <a:solidFill>
                  <a:srgbClr val="141A2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Mutate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371600" y="4040460"/>
            <a:ext cx="4499838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2250" dirty="0">
                <a:solidFill>
                  <a:srgbClr val="48516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Site-directed mutagenesis of the binding site.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6502375" y="2087835"/>
            <a:ext cx="5283175" cy="7437165"/>
          </a:xfrm>
          <a:prstGeom prst="roundRect">
            <a:avLst>
              <a:gd name="adj" fmla="val 3606"/>
            </a:avLst>
          </a:prstGeom>
          <a:solidFill>
            <a:srgbClr val="F7F4EE"/>
          </a:solidFill>
          <a:ln/>
        </p:spPr>
      </p:sp>
      <p:sp>
        <p:nvSpPr>
          <p:cNvPr id="8" name="Text 6"/>
          <p:cNvSpPr/>
          <p:nvPr/>
        </p:nvSpPr>
        <p:spPr>
          <a:xfrm>
            <a:off x="6959575" y="2545035"/>
            <a:ext cx="4805653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925E1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959575" y="3268935"/>
            <a:ext cx="4805653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spc="-66" kern="0" dirty="0">
                <a:solidFill>
                  <a:srgbClr val="141A2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Record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6959575" y="4040460"/>
            <a:ext cx="4499838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2250" dirty="0">
                <a:solidFill>
                  <a:srgbClr val="48516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Single-channel currents at a range of [ACh].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12090350" y="2087835"/>
            <a:ext cx="5283250" cy="7437165"/>
          </a:xfrm>
          <a:prstGeom prst="roundRect">
            <a:avLst>
              <a:gd name="adj" fmla="val 3606"/>
            </a:avLst>
          </a:prstGeom>
          <a:solidFill>
            <a:srgbClr val="F7F4EE"/>
          </a:solidFill>
          <a:ln/>
        </p:spPr>
      </p:sp>
      <p:sp>
        <p:nvSpPr>
          <p:cNvPr id="12" name="Text 10"/>
          <p:cNvSpPr/>
          <p:nvPr/>
        </p:nvSpPr>
        <p:spPr>
          <a:xfrm>
            <a:off x="12547550" y="2545035"/>
            <a:ext cx="480573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925E1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2547550" y="3268935"/>
            <a:ext cx="4805735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spc="-66" kern="0" dirty="0">
                <a:solidFill>
                  <a:srgbClr val="141A2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Model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12547550" y="4040460"/>
            <a:ext cx="449991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2250" dirty="0">
                <a:solidFill>
                  <a:srgbClr val="48516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Fit rate constants to a kinetic scheme.</a:t>
            </a:r>
            <a:endParaRPr lang="en-US" sz="2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181051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925E1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SUMMARY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23975"/>
            <a:ext cx="18105120" cy="67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479"/>
              </a:lnSpc>
              <a:buNone/>
            </a:pPr>
            <a:r>
              <a:rPr lang="en-US" sz="4800" spc="-168" kern="0" dirty="0">
                <a:solidFill>
                  <a:srgbClr val="141A2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Three things to remember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649810"/>
            <a:ext cx="102870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925E1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866900" y="2573610"/>
            <a:ext cx="17057370" cy="582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351"/>
              </a:lnSpc>
              <a:buNone/>
            </a:pPr>
            <a:r>
              <a:rPr lang="en-US" sz="3300" dirty="0">
                <a:solidFill>
                  <a:srgbClr val="141A2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mutation slows channel opening about threefold.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14400" y="3575596"/>
            <a:ext cx="102870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925E1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2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866900" y="3499396"/>
            <a:ext cx="17057370" cy="582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351"/>
              </a:lnSpc>
              <a:buNone/>
            </a:pPr>
            <a:r>
              <a:rPr lang="en-US" sz="3300" dirty="0">
                <a:solidFill>
                  <a:srgbClr val="141A2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Agonist binding is unaffected.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914400" y="4501381"/>
            <a:ext cx="102870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925E1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3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1866900" y="4425181"/>
            <a:ext cx="17057370" cy="582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351"/>
              </a:lnSpc>
              <a:buNone/>
            </a:pPr>
            <a:r>
              <a:rPr lang="en-US" sz="3300" dirty="0">
                <a:solidFill>
                  <a:srgbClr val="141A2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residue couples binding to gating.</a:t>
            </a:r>
            <a:endParaRPr lang="en-US" sz="3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18105120" cy="1147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037"/>
              </a:lnSpc>
              <a:buNone/>
            </a:pPr>
            <a:r>
              <a:rPr lang="en-US" sz="7800" spc="-312" kern="0" dirty="0">
                <a:solidFill>
                  <a:srgbClr val="141A2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Thank </a:t>
            </a:r>
            <a:pPr algn="l" indent="0" marL="0">
              <a:lnSpc>
                <a:spcPct val="77037"/>
              </a:lnSpc>
              <a:buNone/>
            </a:pPr>
            <a:r>
              <a:rPr lang="en-US" sz="7800" i="1" spc="-312" kern="0" dirty="0">
                <a:solidFill>
                  <a:srgbClr val="925E1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you</a:t>
            </a:r>
            <a:endParaRPr lang="en-US" sz="7800" dirty="0"/>
          </a:p>
        </p:txBody>
      </p:sp>
      <p:sp>
        <p:nvSpPr>
          <p:cNvPr id="3" name="Text 1"/>
          <p:cNvSpPr/>
          <p:nvPr/>
        </p:nvSpPr>
        <p:spPr>
          <a:xfrm>
            <a:off x="914400" y="4269581"/>
            <a:ext cx="558794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129"/>
              </a:lnSpc>
              <a:buNone/>
            </a:pPr>
            <a:r>
              <a:rPr lang="en-US" sz="1800" spc="252" kern="0" dirty="0">
                <a:solidFill>
                  <a:srgbClr val="925E1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NAYAK LAB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793456"/>
            <a:ext cx="3286295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663"/>
              </a:lnSpc>
              <a:buNone/>
            </a:pPr>
            <a:r>
              <a:rPr lang="en-US" sz="2400" dirty="0">
                <a:solidFill>
                  <a:srgbClr val="48516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Dr. Tapan Kumar Nayak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5250656"/>
            <a:ext cx="2817065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663"/>
              </a:lnSpc>
              <a:buNone/>
            </a:pPr>
            <a:r>
              <a:rPr lang="en-US" sz="2400" dirty="0">
                <a:solidFill>
                  <a:srgbClr val="48516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Lab member names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603950" y="4269581"/>
            <a:ext cx="558802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129"/>
              </a:lnSpc>
              <a:buNone/>
            </a:pPr>
            <a:r>
              <a:rPr lang="en-US" sz="1800" spc="252" kern="0" dirty="0">
                <a:solidFill>
                  <a:srgbClr val="925E1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COLLABORATORS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603950" y="4793456"/>
            <a:ext cx="2152501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663"/>
              </a:lnSpc>
              <a:buNone/>
            </a:pPr>
            <a:r>
              <a:rPr lang="en-US" sz="2400" dirty="0">
                <a:solidFill>
                  <a:srgbClr val="48516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Name, Institute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603950" y="5250656"/>
            <a:ext cx="2152501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663"/>
              </a:lnSpc>
              <a:buNone/>
            </a:pPr>
            <a:r>
              <a:rPr lang="en-US" sz="2400" dirty="0">
                <a:solidFill>
                  <a:srgbClr val="48516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Name, Institute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2293575" y="4269581"/>
            <a:ext cx="558794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129"/>
              </a:lnSpc>
              <a:buNone/>
            </a:pPr>
            <a:r>
              <a:rPr lang="en-US" sz="1800" spc="252" kern="0" dirty="0">
                <a:solidFill>
                  <a:srgbClr val="925E1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CONTACT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293575" y="4793456"/>
            <a:ext cx="4513482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663"/>
              </a:lnSpc>
              <a:buNone/>
            </a:pPr>
            <a:r>
              <a:rPr lang="en-US" sz="2400" dirty="0">
                <a:solidFill>
                  <a:srgbClr val="48516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tapannayak@bioschool.iitd.ac.in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2293575" y="5250656"/>
            <a:ext cx="2746090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663"/>
              </a:lnSpc>
              <a:buNone/>
            </a:pPr>
            <a:r>
              <a:rPr lang="en-US" sz="2400" dirty="0">
                <a:solidFill>
                  <a:srgbClr val="48516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channellab.iitd.ac.in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14400" y="8077200"/>
            <a:ext cx="16459200" cy="1447800"/>
          </a:xfrm>
          <a:prstGeom prst="roundRect">
            <a:avLst>
              <a:gd name="adj" fmla="val 10526"/>
            </a:avLst>
          </a:prstGeom>
          <a:solidFill>
            <a:srgbClr val="F7F4EE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8382000"/>
            <a:ext cx="838200" cy="838200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0" y="8458200"/>
            <a:ext cx="972145" cy="685800"/>
          </a:xfrm>
          <a:prstGeom prst="rect">
            <a:avLst/>
          </a:prstGeom>
        </p:spPr>
      </p:pic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3545" y="8458200"/>
            <a:ext cx="1106612" cy="685800"/>
          </a:xfrm>
          <a:prstGeom prst="rect">
            <a:avLst/>
          </a:prstGeom>
        </p:spPr>
      </p:pic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957" y="8458200"/>
            <a:ext cx="1567532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377100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spc="-147" kern="0" dirty="0">
                <a:solidFill>
                  <a:srgbClr val="141A2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Design system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3313643" y="995363"/>
            <a:ext cx="446595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925E1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DELETE BEFORE PRESENTING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3036615"/>
            <a:ext cx="85496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585F7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COLOUR · DARK / LIGHT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3522390"/>
            <a:ext cx="533400" cy="419100"/>
          </a:xfrm>
          <a:prstGeom prst="roundRect">
            <a:avLst>
              <a:gd name="adj" fmla="val 18182"/>
            </a:avLst>
          </a:prstGeom>
          <a:solidFill>
            <a:srgbClr val="070C16"/>
          </a:solidFill>
          <a:ln w="9525">
            <a:solidFill>
              <a:srgbClr val="141A26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38300" y="3522390"/>
            <a:ext cx="5334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141A26">
                <a:alpha val="1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62200" y="3572396"/>
            <a:ext cx="2305050" cy="3571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41A2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Background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4648200" y="3584302"/>
            <a:ext cx="4442460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8516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#070C16 / #FFFFFF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4131990"/>
            <a:ext cx="533400" cy="419100"/>
          </a:xfrm>
          <a:prstGeom prst="roundRect">
            <a:avLst>
              <a:gd name="adj" fmla="val 18182"/>
            </a:avLst>
          </a:prstGeom>
          <a:solidFill>
            <a:srgbClr val="0D1422"/>
          </a:solidFill>
          <a:ln w="9525">
            <a:solidFill>
              <a:srgbClr val="141A26">
                <a:alpha val="1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38300" y="4131990"/>
            <a:ext cx="533400" cy="419100"/>
          </a:xfrm>
          <a:prstGeom prst="roundRect">
            <a:avLst>
              <a:gd name="adj" fmla="val 18182"/>
            </a:avLst>
          </a:prstGeom>
          <a:solidFill>
            <a:srgbClr val="F7F4EE"/>
          </a:solidFill>
          <a:ln w="9525">
            <a:solidFill>
              <a:srgbClr val="141A26">
                <a:alpha val="1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62200" y="4181996"/>
            <a:ext cx="2305050" cy="3571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41A2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Panel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4648200" y="4193902"/>
            <a:ext cx="4442460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8516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#0D1422 / #F7F4EE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14400" y="4741590"/>
            <a:ext cx="533400" cy="419100"/>
          </a:xfrm>
          <a:prstGeom prst="roundRect">
            <a:avLst>
              <a:gd name="adj" fmla="val 18182"/>
            </a:avLst>
          </a:prstGeom>
          <a:solidFill>
            <a:srgbClr val="E8ECF3"/>
          </a:solidFill>
          <a:ln w="9525">
            <a:solidFill>
              <a:srgbClr val="141A26">
                <a:alpha val="1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38300" y="4741590"/>
            <a:ext cx="533400" cy="419100"/>
          </a:xfrm>
          <a:prstGeom prst="roundRect">
            <a:avLst>
              <a:gd name="adj" fmla="val 18182"/>
            </a:avLst>
          </a:prstGeom>
          <a:solidFill>
            <a:srgbClr val="141A26"/>
          </a:solidFill>
          <a:ln w="9525">
            <a:solidFill>
              <a:srgbClr val="141A26">
                <a:alpha val="1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62200" y="4791596"/>
            <a:ext cx="2305050" cy="3571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41A2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Ink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4648200" y="4803502"/>
            <a:ext cx="4442460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8516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#E8ECF3 / #141A26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14400" y="5351190"/>
            <a:ext cx="533400" cy="419100"/>
          </a:xfrm>
          <a:prstGeom prst="roundRect">
            <a:avLst>
              <a:gd name="adj" fmla="val 18182"/>
            </a:avLst>
          </a:prstGeom>
          <a:solidFill>
            <a:srgbClr val="AAB3C3"/>
          </a:solidFill>
          <a:ln w="9525">
            <a:solidFill>
              <a:srgbClr val="141A26">
                <a:alpha val="1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38300" y="5351190"/>
            <a:ext cx="533400" cy="419100"/>
          </a:xfrm>
          <a:prstGeom prst="roundRect">
            <a:avLst>
              <a:gd name="adj" fmla="val 18182"/>
            </a:avLst>
          </a:prstGeom>
          <a:solidFill>
            <a:srgbClr val="485164"/>
          </a:solidFill>
          <a:ln w="9525">
            <a:solidFill>
              <a:srgbClr val="141A26">
                <a:alpha val="1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62200" y="5401196"/>
            <a:ext cx="2305050" cy="3571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41A2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Body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4648200" y="5413102"/>
            <a:ext cx="4442460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8516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#AAB3C3 / #485164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14400" y="5960790"/>
            <a:ext cx="533400" cy="419100"/>
          </a:xfrm>
          <a:prstGeom prst="roundRect">
            <a:avLst>
              <a:gd name="adj" fmla="val 18182"/>
            </a:avLst>
          </a:prstGeom>
          <a:solidFill>
            <a:srgbClr val="8792A6"/>
          </a:solidFill>
          <a:ln w="9525">
            <a:solidFill>
              <a:srgbClr val="141A26">
                <a:alpha val="1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38300" y="5960790"/>
            <a:ext cx="533400" cy="419100"/>
          </a:xfrm>
          <a:prstGeom prst="roundRect">
            <a:avLst>
              <a:gd name="adj" fmla="val 18182"/>
            </a:avLst>
          </a:prstGeom>
          <a:solidFill>
            <a:srgbClr val="585F74"/>
          </a:solidFill>
          <a:ln w="9525">
            <a:solidFill>
              <a:srgbClr val="141A26">
                <a:alpha val="1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62200" y="6010796"/>
            <a:ext cx="2305050" cy="3571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41A2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Muted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4648200" y="6022702"/>
            <a:ext cx="4442460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8516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#8792A6 / #585F74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14400" y="6570390"/>
            <a:ext cx="533400" cy="419100"/>
          </a:xfrm>
          <a:prstGeom prst="roundRect">
            <a:avLst>
              <a:gd name="adj" fmla="val 18182"/>
            </a:avLst>
          </a:prstGeom>
          <a:solidFill>
            <a:srgbClr val="F1D49A"/>
          </a:solidFill>
          <a:ln w="9525">
            <a:solidFill>
              <a:srgbClr val="141A26">
                <a:alpha val="1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38300" y="6570390"/>
            <a:ext cx="533400" cy="419100"/>
          </a:xfrm>
          <a:prstGeom prst="roundRect">
            <a:avLst>
              <a:gd name="adj" fmla="val 18182"/>
            </a:avLst>
          </a:prstGeom>
          <a:solidFill>
            <a:srgbClr val="925E10"/>
          </a:solidFill>
          <a:ln w="9525">
            <a:solidFill>
              <a:srgbClr val="141A26">
                <a:alpha val="1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62200" y="6620396"/>
            <a:ext cx="2305050" cy="3571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41A2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Gold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4648200" y="6632302"/>
            <a:ext cx="4442460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8516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#F1D49A / #925E10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14400" y="7179990"/>
            <a:ext cx="533400" cy="419100"/>
          </a:xfrm>
          <a:prstGeom prst="roundRect">
            <a:avLst>
              <a:gd name="adj" fmla="val 18182"/>
            </a:avLst>
          </a:prstGeom>
          <a:solidFill>
            <a:srgbClr val="8FB4E8"/>
          </a:solidFill>
          <a:ln w="9525">
            <a:solidFill>
              <a:srgbClr val="141A26">
                <a:alpha val="1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638300" y="7179990"/>
            <a:ext cx="533400" cy="419100"/>
          </a:xfrm>
          <a:prstGeom prst="roundRect">
            <a:avLst>
              <a:gd name="adj" fmla="val 18182"/>
            </a:avLst>
          </a:prstGeom>
          <a:solidFill>
            <a:srgbClr val="2E62B0"/>
          </a:solidFill>
          <a:ln w="9525">
            <a:solidFill>
              <a:srgbClr val="141A26">
                <a:alpha val="1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62200" y="7229996"/>
            <a:ext cx="2305050" cy="3571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41A2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Signal blue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4648200" y="7241902"/>
            <a:ext cx="4442460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8516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#8FB4E8 / #2E62B0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601200" y="3036615"/>
            <a:ext cx="85496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585F7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TYPE · POINTS ON 13.33 × 7.5 IN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9601200" y="4370115"/>
            <a:ext cx="7772400" cy="9525"/>
          </a:xfrm>
          <a:prstGeom prst="rect">
            <a:avLst/>
          </a:prstGeom>
          <a:solidFill>
            <a:srgbClr val="141A26">
              <a:alpha val="1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9601200" y="3522390"/>
            <a:ext cx="1048196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spc="-168" kern="0" dirty="0">
                <a:solidFill>
                  <a:srgbClr val="141A2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Title</a:t>
            </a:r>
            <a:endParaRPr lang="en-US" sz="4200" dirty="0"/>
          </a:p>
        </p:txBody>
      </p:sp>
      <p:sp>
        <p:nvSpPr>
          <p:cNvPr id="36" name="Text 34"/>
          <p:cNvSpPr/>
          <p:nvPr/>
        </p:nvSpPr>
        <p:spPr>
          <a:xfrm>
            <a:off x="15041910" y="3831952"/>
            <a:ext cx="256485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8516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Geist 500 · 54–66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9601200" y="5217840"/>
            <a:ext cx="7772400" cy="9525"/>
          </a:xfrm>
          <a:prstGeom prst="rect">
            <a:avLst/>
          </a:prstGeom>
          <a:solidFill>
            <a:srgbClr val="141A26">
              <a:alpha val="1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9601200" y="4570140"/>
            <a:ext cx="1710616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spc="-105" kern="0" dirty="0">
                <a:solidFill>
                  <a:srgbClr val="141A2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Slide title</a:t>
            </a:r>
            <a:endParaRPr lang="en-US" sz="3000" dirty="0"/>
          </a:p>
        </p:txBody>
      </p:sp>
      <p:sp>
        <p:nvSpPr>
          <p:cNvPr id="39" name="Text 37"/>
          <p:cNvSpPr/>
          <p:nvPr/>
        </p:nvSpPr>
        <p:spPr>
          <a:xfrm>
            <a:off x="15041910" y="4722540"/>
            <a:ext cx="256485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8516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Geist 500 · 32–36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9601200" y="5965552"/>
            <a:ext cx="7772400" cy="9525"/>
          </a:xfrm>
          <a:prstGeom prst="rect">
            <a:avLst/>
          </a:prstGeom>
          <a:solidFill>
            <a:srgbClr val="141A26">
              <a:alpha val="1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9601200" y="5417865"/>
            <a:ext cx="1454162" cy="433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48516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Body text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15041910" y="5494065"/>
            <a:ext cx="256485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8516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Geist 300 · 20–24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9601200" y="6637065"/>
            <a:ext cx="7772400" cy="9525"/>
          </a:xfrm>
          <a:prstGeom prst="rect">
            <a:avLst/>
          </a:prstGeom>
          <a:solidFill>
            <a:srgbClr val="141A26">
              <a:alpha val="1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9601200" y="6165577"/>
            <a:ext cx="152554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90" kern="0" dirty="0">
                <a:solidFill>
                  <a:srgbClr val="925E1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EYEBROW</a:t>
            </a:r>
            <a:endParaRPr lang="en-US" sz="1950" dirty="0"/>
          </a:p>
        </p:txBody>
      </p:sp>
      <p:sp>
        <p:nvSpPr>
          <p:cNvPr id="45" name="Text 43"/>
          <p:cNvSpPr/>
          <p:nvPr/>
        </p:nvSpPr>
        <p:spPr>
          <a:xfrm>
            <a:off x="14767545" y="6184627"/>
            <a:ext cx="28666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8516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Mono · 14–16 · caps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9601200" y="7408590"/>
            <a:ext cx="7772400" cy="9525"/>
          </a:xfrm>
          <a:prstGeom prst="rect">
            <a:avLst/>
          </a:prstGeom>
          <a:solidFill>
            <a:srgbClr val="141A26">
              <a:alpha val="1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9601200" y="6837090"/>
            <a:ext cx="110869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i="1" dirty="0">
                <a:solidFill>
                  <a:srgbClr val="925E1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accent</a:t>
            </a:r>
            <a:endParaRPr lang="en-US" sz="3300" dirty="0"/>
          </a:p>
        </p:txBody>
      </p:sp>
      <p:sp>
        <p:nvSpPr>
          <p:cNvPr id="48" name="Text 46"/>
          <p:cNvSpPr/>
          <p:nvPr/>
        </p:nvSpPr>
        <p:spPr>
          <a:xfrm>
            <a:off x="14767545" y="6918052"/>
            <a:ext cx="28666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85164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Newsreader · 1 word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9601200" y="7684815"/>
            <a:ext cx="8005572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37"/>
              </a:lnSpc>
              <a:buNone/>
            </a:pPr>
            <a:r>
              <a:rPr lang="en-US" sz="1950" dirty="0">
                <a:solidFill>
                  <a:srgbClr val="48516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Margins 96 px sides, 80 px top and bottom. Nothing below 18 pt. Gold on one thing per slide.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2026-10-02T16:43:04Z</dcterms:created>
  <dcterms:modified xsi:type="dcterms:W3CDTF">2026-10-02T16:43:04Z</dcterms:modified>
</cp:coreProperties>
</file>