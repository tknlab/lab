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A · Title. Change the event, date, title and presenter. Keep at most one gold italic word in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Outline. Three to five items. Use the same section titles as your section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B · Section. Panel background marks a break. Use for talks over 20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C · Claim + figure. The default content slide. Title states the finding. Up to three short points. n and conditions at the bottom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D · Full figure. For a graph or structure that needs the whole width. One-line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Comparison. Wild type in ink, the condition you care about in gold. Same axes on both panels.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number. One figure, in gold Geist Mono, with a sentence that explains it. Use sparingly.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E · Full-bleed photo. For methods, rigs and people. Replace the image with a lab photo; keep the dark fade behind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Steps. For a workflow or protocol. Three or four steps; reveal one at a time with Appear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Three take-home points, written as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F · Acknowledgements. Always the last slide. Keep funder logos on the white strip at equal visual 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theme title. Use the light slides for printed handouts, PDFs and bright rooms. Don't mix with dark slides in one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theme claim + figure. Black traces, gold #925E10 for the key condition, blue #2E62B0 for the second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card for the design system. Delete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webp"/><Relationship Id="rId3" Type="http://schemas.openxmlformats.org/officeDocument/2006/relationships/image" Target="../media/image-11-3.webp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62000"/>
            <a:ext cx="1675209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66937" y="957263"/>
            <a:ext cx="29773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KSBS · IIT DELHI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5457825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LAB MEETING · 14 OCT 2026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14400" y="6119813"/>
            <a:ext cx="14716125" cy="261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77"/>
              </a:lnSpc>
              <a:buNone/>
            </a:pPr>
            <a:r>
              <a:rPr lang="en-US" sz="9600" spc="-384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agonists </a:t>
            </a:r>
            <a:pPr algn="l" indent="0" marL="0">
              <a:lnSpc>
                <a:spcPct val="76877"/>
              </a:lnSpc>
              <a:buNone/>
            </a:pPr>
            <a:r>
              <a:rPr lang="en-US" sz="9600" i="1" spc="-384" kern="0" dirty="0">
                <a:solidFill>
                  <a:srgbClr val="F1D49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open </a:t>
            </a:r>
            <a:pPr algn="l" indent="0" marL="0">
              <a:lnSpc>
                <a:spcPct val="76877"/>
              </a:lnSpc>
              <a:buNone/>
            </a:pPr>
            <a:r>
              <a:rPr lang="en-US" sz="9600" spc="-384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pore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914400" y="9082088"/>
            <a:ext cx="1810512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Presenter name · PhD scholar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OUTLINE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23975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Today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49810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773760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59385"/>
            <a:ext cx="146685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47900" y="2945085"/>
            <a:ext cx="166382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Background and question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4400" y="4897710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183335"/>
            <a:ext cx="146685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47900" y="4069035"/>
            <a:ext cx="166382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Gating kinetics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6021660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307285"/>
            <a:ext cx="146685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47900" y="5192985"/>
            <a:ext cx="166382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 and model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14400" y="7145610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6431235"/>
            <a:ext cx="146685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247900" y="6316935"/>
            <a:ext cx="166382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steps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67388"/>
            <a:ext cx="1810512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3500" spc="-405" kern="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14400" y="7786688"/>
            <a:ext cx="181051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037"/>
              </a:lnSpc>
              <a:buNone/>
            </a:pPr>
            <a:r>
              <a:rPr lang="en-US" sz="7800" spc="-312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Gating kinetics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9082088"/>
            <a:ext cx="1810512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changes when the mutant opens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571625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mutation slows opening about threefold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1935435"/>
            <a:ext cx="19050" cy="462855"/>
          </a:xfrm>
          <a:prstGeom prst="rect">
            <a:avLst/>
          </a:prstGeom>
          <a:solidFill>
            <a:srgbClr val="F1D49A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935435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Rise time 1.2 → 3.6 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741191"/>
            <a:ext cx="19050" cy="46285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00150" y="2741191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Peak current unchanged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546946"/>
            <a:ext cx="19050" cy="46285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3546946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Closing rate unchanged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315200" y="1859235"/>
            <a:ext cx="10058400" cy="7665765"/>
          </a:xfrm>
          <a:prstGeom prst="roundRect">
            <a:avLst>
              <a:gd name="adj" fmla="val 2485"/>
            </a:avLst>
          </a:prstGeom>
          <a:solidFill>
            <a:srgbClr val="0D1422"/>
          </a:solidFill>
          <a:ln w="19050">
            <a:solidFill>
              <a:srgbClr val="F1D49A">
                <a:alpha val="30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183374" y="1878285"/>
            <a:ext cx="10322052" cy="766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273" kern="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FIGURE · SVG, EMF OR 300 DPI PNG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9229725"/>
            <a:ext cx="628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 = 12 patches · −100 mV · Recorded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probability rises with [ACh]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1783035"/>
            <a:ext cx="16459200" cy="7065690"/>
          </a:xfrm>
          <a:prstGeom prst="roundRect">
            <a:avLst>
              <a:gd name="adj" fmla="val 2696"/>
            </a:avLst>
          </a:prstGeom>
          <a:solidFill>
            <a:srgbClr val="0D1422"/>
          </a:solidFill>
          <a:ln w="19050">
            <a:solidFill>
              <a:srgbClr val="F1D49A">
                <a:alpha val="30000"/>
              </a:srgbClr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86562" y="1802085"/>
            <a:ext cx="16914876" cy="7065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273" kern="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FULL-WIDTH FIGURE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9229725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Recorded · cell-attached · n = 8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mutant stays closed for longer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859235"/>
            <a:ext cx="88011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WILD TYPE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14400" y="2406923"/>
            <a:ext cx="8001000" cy="6518002"/>
          </a:xfrm>
          <a:prstGeom prst="roundRect">
            <a:avLst>
              <a:gd name="adj" fmla="val 2923"/>
            </a:avLst>
          </a:prstGeom>
          <a:solidFill>
            <a:srgbClr val="0D1422"/>
          </a:solidFill>
          <a:ln w="1905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13435" y="2425973"/>
            <a:ext cx="8202930" cy="651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FIGURE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9153525"/>
            <a:ext cx="8801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 closed time 2.1 ms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372600" y="1859235"/>
            <a:ext cx="88011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MUTANT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72600" y="2406923"/>
            <a:ext cx="8001000" cy="6518002"/>
          </a:xfrm>
          <a:prstGeom prst="roundRect">
            <a:avLst>
              <a:gd name="adj" fmla="val 2923"/>
            </a:avLst>
          </a:prstGeom>
          <a:solidFill>
            <a:srgbClr val="0D1422"/>
          </a:solidFill>
          <a:ln w="19050">
            <a:solidFill>
              <a:srgbClr val="F1D49A">
                <a:alpha val="40000"/>
              </a:srgbClr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271635" y="2425973"/>
            <a:ext cx="8202930" cy="651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FIGURE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72600" y="9153525"/>
            <a:ext cx="8801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 closed time 6.4 ms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05075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KEY RESULT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3181350"/>
            <a:ext cx="1810512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231"/>
              </a:lnSpc>
              <a:buNone/>
            </a:pPr>
            <a:r>
              <a:rPr lang="en-US" sz="21000" spc="-1050" kern="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3×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914400" y="5962650"/>
            <a:ext cx="117729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3600" spc="-72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slower opening in the mutant, with no change in peak current.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74866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 = 12 patches · p &lt; 0.01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1084" b="2108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70C16">
                  <a:alpha val="94000"/>
                </a:srgbClr>
              </a:gs>
              <a:gs pos="42000">
                <a:srgbClr val="070C16">
                  <a:alpha val="70000"/>
                </a:srgbClr>
              </a:gs>
              <a:gs pos="78000">
                <a:srgbClr val="070C1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914400" y="5956846"/>
            <a:ext cx="85915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METHOD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14400" y="6542633"/>
            <a:ext cx="8044815" cy="174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93"/>
              </a:lnSpc>
              <a:buNone/>
            </a:pPr>
            <a:r>
              <a:rPr lang="en-US" sz="6600" spc="-231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Single-channel patch clamp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914400" y="8519220"/>
            <a:ext cx="804481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952"/>
              </a:lnSpc>
              <a:buNone/>
            </a:pPr>
            <a:r>
              <a:rPr lang="en-US" sz="240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Currents from one receptor at a time, in cell-attached patches.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mutation to mechanism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2087835"/>
            <a:ext cx="5283175" cy="7437165"/>
          </a:xfrm>
          <a:prstGeom prst="roundRect">
            <a:avLst>
              <a:gd name="adj" fmla="val 3606"/>
            </a:avLst>
          </a:prstGeom>
          <a:solidFill>
            <a:srgbClr val="0D142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545035"/>
            <a:ext cx="480565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3268935"/>
            <a:ext cx="480565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Mutate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71600" y="4040460"/>
            <a:ext cx="449983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Site-directed mutagenesis of the binding site.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02375" y="2087835"/>
            <a:ext cx="5283175" cy="7437165"/>
          </a:xfrm>
          <a:prstGeom prst="roundRect">
            <a:avLst>
              <a:gd name="adj" fmla="val 3606"/>
            </a:avLst>
          </a:prstGeom>
          <a:solidFill>
            <a:srgbClr val="0D1422"/>
          </a:solidFill>
          <a:ln/>
        </p:spPr>
      </p:sp>
      <p:sp>
        <p:nvSpPr>
          <p:cNvPr id="8" name="Text 6"/>
          <p:cNvSpPr/>
          <p:nvPr/>
        </p:nvSpPr>
        <p:spPr>
          <a:xfrm>
            <a:off x="6959575" y="2545035"/>
            <a:ext cx="480565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59575" y="3268935"/>
            <a:ext cx="480565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959575" y="4040460"/>
            <a:ext cx="449983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Single-channel currents at a range of [ACh].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90350" y="2087835"/>
            <a:ext cx="5283250" cy="7437165"/>
          </a:xfrm>
          <a:prstGeom prst="roundRect">
            <a:avLst>
              <a:gd name="adj" fmla="val 3606"/>
            </a:avLst>
          </a:prstGeom>
          <a:solidFill>
            <a:srgbClr val="0D1422"/>
          </a:solidFill>
          <a:ln/>
        </p:spPr>
      </p:sp>
      <p:sp>
        <p:nvSpPr>
          <p:cNvPr id="12" name="Text 10"/>
          <p:cNvSpPr/>
          <p:nvPr/>
        </p:nvSpPr>
        <p:spPr>
          <a:xfrm>
            <a:off x="12547550" y="2545035"/>
            <a:ext cx="48057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547550" y="3268935"/>
            <a:ext cx="480573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547550" y="4040460"/>
            <a:ext cx="44999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Fit rate constants to a kinetic scheme.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SUMMARY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23975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things to remember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649810"/>
            <a:ext cx="10287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866900" y="2573610"/>
            <a:ext cx="1705737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51"/>
              </a:lnSpc>
              <a:buNone/>
            </a:pPr>
            <a:r>
              <a:rPr lang="en-US" sz="330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mutation slows channel opening about threefold.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3575596"/>
            <a:ext cx="10287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66900" y="3499396"/>
            <a:ext cx="1705737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51"/>
              </a:lnSpc>
              <a:buNone/>
            </a:pPr>
            <a:r>
              <a:rPr lang="en-US" sz="330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Agonist binding is unaffected.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4501381"/>
            <a:ext cx="10287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1D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866900" y="4425181"/>
            <a:ext cx="1705737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51"/>
              </a:lnSpc>
              <a:buNone/>
            </a:pPr>
            <a:r>
              <a:rPr lang="en-US" sz="330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residue couples binding to gating.</a:t>
            </a:r>
            <a:endParaRPr lang="en-US" sz="3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1147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037"/>
              </a:lnSpc>
              <a:buNone/>
            </a:pPr>
            <a:r>
              <a:rPr lang="en-US" sz="7800" spc="-312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</a:t>
            </a:r>
            <a:pPr algn="l" indent="0" marL="0">
              <a:lnSpc>
                <a:spcPct val="77037"/>
              </a:lnSpc>
              <a:buNone/>
            </a:pPr>
            <a:r>
              <a:rPr lang="en-US" sz="7800" i="1" spc="-312" kern="0" dirty="0">
                <a:solidFill>
                  <a:srgbClr val="F1D49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you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914400" y="4269581"/>
            <a:ext cx="5587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52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NAYAK LAB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793456"/>
            <a:ext cx="328629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Dr. Tapan Kumar Nayak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5250656"/>
            <a:ext cx="281706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Lab member names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03950" y="4269581"/>
            <a:ext cx="55880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52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COLLABORATORS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03950" y="4793456"/>
            <a:ext cx="215250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Name, Institute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3950" y="5250656"/>
            <a:ext cx="215250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Name, Institute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293575" y="4269581"/>
            <a:ext cx="5587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52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CONTACT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293575" y="4793456"/>
            <a:ext cx="4513482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tapannayak@bioschool.iitd.ac.in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293575" y="5250656"/>
            <a:ext cx="274609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channellab.iitd.ac.in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8077200"/>
            <a:ext cx="164592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8382000"/>
            <a:ext cx="838200" cy="838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8458200"/>
            <a:ext cx="972145" cy="6858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45" y="8458200"/>
            <a:ext cx="1106612" cy="6858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57" y="8458200"/>
            <a:ext cx="156753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76300"/>
            <a:ext cx="1675209" cy="685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0" y="762000"/>
            <a:ext cx="9144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5457825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JOURNAL CLUB · 21 OCT 2026</a:t>
            </a:r>
            <a:endParaRPr 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914400" y="6119813"/>
            <a:ext cx="14716125" cy="261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77"/>
              </a:lnSpc>
              <a:buNone/>
            </a:pPr>
            <a:r>
              <a:rPr lang="en-US" sz="9600" spc="-384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agonists </a:t>
            </a:r>
            <a:pPr algn="l" indent="0" marL="0">
              <a:lnSpc>
                <a:spcPct val="76877"/>
              </a:lnSpc>
              <a:buNone/>
            </a:pPr>
            <a:r>
              <a:rPr lang="en-US" sz="9600" i="1" spc="-384" kern="0" dirty="0">
                <a:solidFill>
                  <a:srgbClr val="925E1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open </a:t>
            </a:r>
            <a:pPr algn="l" indent="0" marL="0">
              <a:lnSpc>
                <a:spcPct val="76877"/>
              </a:lnSpc>
              <a:buNone/>
            </a:pPr>
            <a:r>
              <a:rPr lang="en-US" sz="9600" spc="-384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pore</a:t>
            </a:r>
            <a:endParaRPr lang="en-US" sz="9600" dirty="0"/>
          </a:p>
        </p:txBody>
      </p:sp>
      <p:sp>
        <p:nvSpPr>
          <p:cNvPr id="6" name="Text 2"/>
          <p:cNvSpPr/>
          <p:nvPr/>
        </p:nvSpPr>
        <p:spPr>
          <a:xfrm>
            <a:off x="914400" y="9082088"/>
            <a:ext cx="1810512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Presenter name · PhD scholar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571625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mutation slows opening about threefold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1935435"/>
            <a:ext cx="19050" cy="462855"/>
          </a:xfrm>
          <a:prstGeom prst="rect">
            <a:avLst/>
          </a:prstGeom>
          <a:solidFill>
            <a:srgbClr val="925E1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935435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Rise time 1.2 → 3.6 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741191"/>
            <a:ext cx="19050" cy="462855"/>
          </a:xfrm>
          <a:prstGeom prst="rect">
            <a:avLst/>
          </a:prstGeom>
          <a:solidFill>
            <a:srgbClr val="141A26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00150" y="2741191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Peak current unchanged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546946"/>
            <a:ext cx="19050" cy="462855"/>
          </a:xfrm>
          <a:prstGeom prst="rect">
            <a:avLst/>
          </a:prstGeom>
          <a:solidFill>
            <a:srgbClr val="141A26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3546946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Closing rate unchanged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315200" y="1859235"/>
            <a:ext cx="10058400" cy="7665765"/>
          </a:xfrm>
          <a:prstGeom prst="roundRect">
            <a:avLst>
              <a:gd name="adj" fmla="val 2485"/>
            </a:avLst>
          </a:prstGeom>
          <a:solidFill>
            <a:srgbClr val="F7F4EE"/>
          </a:solidFill>
          <a:ln w="19050">
            <a:solidFill>
              <a:srgbClr val="925E10">
                <a:alpha val="35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183374" y="1878285"/>
            <a:ext cx="10322052" cy="766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273" kern="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FIGURE · SVG, EMF OR 300 DPI PNG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9229725"/>
            <a:ext cx="628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 = 12 patches · −100 mV · Recorded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377100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47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system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13643" y="995363"/>
            <a:ext cx="44659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DELETE BEFORE PRESENTING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036615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COLOUR · DARK / LIGHT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5223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070C16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8300" y="35223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62200" y="35723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Background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648200" y="35843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#070C16 / #FFFFFF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1319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0D1422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8300" y="41319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F7F4EE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2200" y="41819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Panel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648200" y="41939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#0D1422 / #F7F4EE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7415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E8ECF3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38300" y="47415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141A26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2200" y="47915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Ink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648200" y="48035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#E8ECF3 / #141A26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3511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AAB3C3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38300" y="53511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485164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2200" y="54011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Body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648200" y="54131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#AAB3C3 / #485164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9607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8792A6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38300" y="59607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585F74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62200" y="60107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Muted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648200" y="60227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#8792A6 / #585F74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65703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F1D49A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38300" y="65703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925E10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62200" y="66203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Gold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4648200" y="66323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#F1D49A / #925E10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71799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8FB4E8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38300" y="71799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2E62B0"/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62200" y="72299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Signal blue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4648200" y="72419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#8FB4E8 / #2E62B0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01200" y="3036615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792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TYPE · POINTS ON 13.33 × 7.5 IN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601200" y="4370115"/>
            <a:ext cx="77724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0" y="3522390"/>
            <a:ext cx="1048196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68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15041910" y="3831952"/>
            <a:ext cx="25648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500 · 54–66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601200" y="5217840"/>
            <a:ext cx="77724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4570140"/>
            <a:ext cx="171061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105" kern="0" dirty="0">
                <a:solidFill>
                  <a:srgbClr val="E8EC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15041910" y="4722540"/>
            <a:ext cx="25648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500 · 32–36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601200" y="5965552"/>
            <a:ext cx="77724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601200" y="5417865"/>
            <a:ext cx="1454162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Body text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5041910" y="5494065"/>
            <a:ext cx="25648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300 · 20–24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601200" y="6637065"/>
            <a:ext cx="77724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0" y="6165577"/>
            <a:ext cx="15255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E6B66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EYEBROW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4767545" y="6184627"/>
            <a:ext cx="2866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Mono · 14–16 · caps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601200" y="7408590"/>
            <a:ext cx="77724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0" y="6837090"/>
            <a:ext cx="110869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F1D49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accent</a:t>
            </a:r>
            <a:endParaRPr lang="en-US" sz="3300" dirty="0"/>
          </a:p>
        </p:txBody>
      </p:sp>
      <p:sp>
        <p:nvSpPr>
          <p:cNvPr id="48" name="Text 46"/>
          <p:cNvSpPr/>
          <p:nvPr/>
        </p:nvSpPr>
        <p:spPr>
          <a:xfrm>
            <a:off x="14767545" y="6918052"/>
            <a:ext cx="2866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3C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Newsreader · 1 word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601200" y="7684815"/>
            <a:ext cx="8005572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37"/>
              </a:lnSpc>
              <a:buNone/>
            </a:pPr>
            <a:r>
              <a:rPr lang="en-US" sz="1950" dirty="0">
                <a:solidFill>
                  <a:srgbClr val="AAB3C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Margins 96 px sides, 80 px top and bottom. Nothing below 18 pt. Gold on one thing per slide.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2026-10-02T16:31:12Z</dcterms:created>
  <dcterms:modified xsi:type="dcterms:W3CDTF">2026-10-02T16:31:12Z</dcterms:modified>
</cp:coreProperties>
</file>